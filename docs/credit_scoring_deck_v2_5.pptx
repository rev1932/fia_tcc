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E179FA5-2B4C-4C07-8C37-82E3F2C088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0 — ABERTURA (0:00–1:00)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"Uma financeira de crédito perde dinheiro dos dois lados: quando aprova quem não paga — e 8% da carteira entra em default — e quando nega quem pagaria, perdendo receita e excluindo gente do sistema financeiro."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o pior: a ferramenta que o mercado usa pra essa decisão — o score de bureau, tipo Serasa — FALTA EM ATÉ 56% DOS CASOS no nosso público, que é sub-bancarizado."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gente construiu um modelo de credit scoring que decide com o dado que existe — e que sabe dizer onde ele mesmo não é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"Somos [nomes]. Nos próximos 15 minutos: o problema, os dados, o modelo e — a parte mais importante — a avaliação crítica dele."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Âncoras: 8% default · 56% sem bureau · 15 minutos.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19E73F-6142-4076-A86D-AF80DB9F42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0 — ABERTURA (0:00–1:00)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"Uma financeira de crédito perde dinheiro dos dois lados: quando aprova quem não paga — e 8% da carteira entra em default — e quando nega quem pagaria, perdendo receita e excluindo gente do sistema financeiro."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o pior: a ferramenta que o mercado usa pra essa decisão — o score de bureau, tipo Serasa — FALTA EM ATÉ 56% DOS CASOS no nosso público, que é sub-bancarizado."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gente construiu um modelo de credit scoring que decide com o dado que existe — e que sabe dizer onde ele mesmo não é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"Somos [nomes]. Nos próximos 15 minutos: o problema, os dados, o modelo e — a parte mais importante — a avaliação crítica dele."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Âncoras: 8% default · 56% sem bureau · 15 minutos.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E85325-F4A4-43A4-9853-91436E3A80F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1 — PROBLEMA DE NEGÓCIO (1:00–4:00)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"Nossa empresa é uma financeira de crédito ao consumidor para público sub-bancarizado — gente com pouco ou nenhum histórico bancário."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"TODO ERRO DE CRÉDITO TEM UM PREÇO, MAS OS PREÇOS SÃO DIFERENTES. Aprovar um mau pagador — o falso negativo — custa o crédito inteiro. Negar um bom pagador — o falso positivo — custa a margem e um cliente. Na nossa matriz de custo, o primeiro erro custa 10 VEZES MAIS que o segundo."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"Por que esse problema é difícil? Porque o sinal mais forte que existe — os scores externos de bureau, as variáveis EXT_SOURCE — tem correlação de −0,16 a −0,18 com o default... e é justamente o dado que mais falta: de 20 a 56% de nulos."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(Pausa) "O MELHOR DADO É O QUE MENOS EXISTE. É esse o problema que fomos resolver."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pergunta de negócio: qual a probabilidade de cada cliente dar default, e qual o ponto de corte que maximiza o resultado financeiro? Sucesso em dois níveis: métricas técnicas — AUC e KS — e de negócio — taxa de aprovação e perda evitada."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"Pra responder isso, primeiro fomos entender os dados. E a análise exploratória confirmou que o problema era real — e nos deu três direções."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228CEB-81D6-4F9C-B577-22A51E0D4A9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2 — EDA (4:00–6:00)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"Trabalhamos com 307.511 CLIENTES E 124 VARIÁVEIS na tabela principal — 8,07% DE DEFAULT."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"Três achados que direcionaram tudo:"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"UM: O RISCO É MUITO DESIGUAL POR SEGMENTO. Por tipo de renda, o default vai de 0% a quase 40%. Por escolaridade, de 1,8% a 10,9%. Ou seja: tem sinal nos dados — dá pra separar bons e maus pagadores."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"DOIS: OS DADOS MENTEM SE VOCÊ NÃO OLHAR. Encontramos clientes com 365 mil dias de emprego — mil anos trabalhando. Era um código de 'não se aplica' pra pensionistas, disfarçado de número. Convertemos pra nulo explícito, senão o modelo aprenderia um padrão falso. Mesmo tratamento pro gênero 'XNA'."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"TRÊS: A BASE É DESBALANCEADA — 92 bons pra cada 8 maus. Isso descarta a acurácia como métrica: um modelo que aprova todo mundo teria 92% de acurácia e seria inútil. POR ISSO NOSSAS MÉTRICAS PRIMÁRIAS SÃO AUC, KS E RECALL."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"Entendido o dado, o próximo desafio: ele está espalhado em 9 tabelas relacionais — e o modelo precisa de uma linha por cliente. É aí que entra a ABT."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21C9E4-B390-476D-992C-8288C78F328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3 — ABT (6:00–8:00)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"ABT — Analytical Base Table — é a tabela final de modelagem: UMA LINHA POR CLIENTE, 473 COLUNAS."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desafio: um cliente pode ter 20 empréstimos anteriores, dezenas de parcelas, histórico de cartão... Agregamos as 9 tabelas — bureau, pedidos anteriores, POS, cartão, parcelas — com média, soma, máximo, mínimo e contagem. E criamos ratios de negócio: CRÉDITO SOBRE RENDA E PARCELA SOBRE RENDA — o comprometimento de renda que qualquer analista de crédito olharia."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(Os dois cuidados de engenharia — a banca valoriza isso:)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"PRIMEIRO CUIDADO: VAZAMENTO DE DADOS. Só entra na ABT o que é conhecido NO MOMENTO DO PEDIDO DE CRÉDITO. Nada do futuro. Vazamento é o erro que faz o modelo parecer ótimo no notebook e falhar em produção."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"SEGUNDO CUIDADO: GRANULARIDADE. Temos um assert de unicidade do ID do cliente — garantia automática de que ninguém conta duas vezes no treino."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"Com a ABT pronta, fomos modelar. E a nossa regra foi: nenhum modelo complexo se justifica sem antes bater um modelo simples."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6E0000-1505-46EB-951D-5D0FF43930E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4a — MODELO (8:00–11:00)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"COMEÇAMOS PELO BASELINE: REGRESSÃO LOGÍSTICA — o modelo clássico de crédito, simples e interpretável. Com imputação, scaling, one-hot e balanceamento de classes: AUC DE 0,7712 NO TESTE, KS DE 0,4062. Essa é a régua."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CAMPEÃO: LIGHTGBM — gradient boosting, centenas de árvores pequenas em que cada uma corrige os erros da anterior. AUC 0,7846, KS 0,4349. Bateu o baseline."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"Por que o LightGBM venceu NESTE dataset? Dois motivos estruturais: ELE TRATA NULOS NATIVAMENTE — e os nossos nulos não são erro de coleta, são informação: 'não ter bureau' é um fato sobre o cliente. E TRATA CATEGÓRICAS NATIVAMENTE, sem explodir one-hot. Além de capturar não-linearidades que a regressão não vê."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(→ continua no próximo slide: overfitting)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DB1B03-0842-44BF-997B-E4A7DEC673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4b — OVERFITTING (dentro de 8:00–11:00)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(Decorar a sequência de 3 números:)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"AUC DE TREINO 0,883, VALIDAÇÃO 0,781, TESTE 0,785."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gap treino-validação é esperado com 473 features. O que importa é que VALIDAÇÃO E TESTE EMPATAM — se fosse overfitting, o teste despencaria abaixo da validação. Não despencou: o modelo generaliza."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mecanismo de controle foi o EARLY STOPPING: demos teto de 2000 árvores, e o treino parou sozinho na ITERAÇÃO 783, quando a validação parou de melhorar. Os hiperparâmetros seguem a mesma filosofia: árvores rasas, aprendizado lento, regularização — tudo contendo complexidade."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Truque: 783 ≈ AUC ×1000 (0,785) — a 'regra do 78'.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"Modelo treinado e sob controle. Mas AUC não paga boleto — a pergunta final é: o que esse modelo entrega pro negócio, e onde ele falha? Esse é o slide mais importante."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0E0858-9CC9-4847-98C9-D2ADA71091E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5a — AVALIAÇÃO: PERFORMANCE E RÉGUA (11:00–14:00)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"PERFORMANCE: AUC 0,785, KS 0,435 NO TESTE. KS acima de 0,40 é o patamar que o mercado de crédito considera bom. Isso dá poder de ordenação suficiente pra sustentar uma régua de decisão."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RÉGUA: calibramos o threshold pela matriz de custo — errar aprovando custa 10x errar negando. O corte ótimo aprova CERCA DE 70% DA CARTEIRA com o risco sob controle. Não é um corte arbitrário: é o corte que minimiza perda esperada."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"EXPLICABILIDADE: SHAP. Pra cada cliente, sabemos quanto cada variável empurrou o score. Isso é o que permite justificar uma negação de crédito — governança. Sem isso, modelo de crédito não vai pra produção."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(→ próximo slide: o diagnóstico crítico — falar com confiança, é o diferencial)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19405-073E-401D-B741-80983679412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5b — DIAGNÓSTICO CRÍTICO (o diferencial da apresentação)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"E agora a parte que a gente considera o diferencial do trabalho: FOMOS PROCURAR ONDE O NOSSO MODELO FALHA."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"GÊNERO: o AUC é praticamente igual — 0,783 nos homens, 0,778 nas mulheres. Homens são menos aprovados, sim — 60,6% contra 74,3% — mas porque dão mais default de fato: 10,2% contra 7,0%. O MODELO DISCRIMINA RISCO, NÃO PESSOAS."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"IDADE: AQUI HÁ UMA FRAQUEZA REAL. O AUC cai nos extremos — 0,739 nos menores de 25 anos, 0,744 na faixa 55 a 65. E os jovens são justamente o grupo de maior default: 11,7%. O MODELO ENXERGA PIOR EXATAMENTE ONDE O RISCO É MAIOR."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"THIN-FILE: 14,3% da base não tem histórico de bureau. AUC menor — 0,773 — e aprovação bem menor: 57,3% contra 71,7%. Confirma a tese: menos dado, score menos confiável."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"NOSSA MITIGAÇÃO: HUMAN-IN-THE-LOOP. Nos segmentos de AUC baixo — jovens e thin-file — a decisão não é 100% automática: vai pra um analista, acompanhada do relatório SHAP do caso. Assumir a limitação e desenhar o processo em volta dela é mais honesto do que fingir que o modelo é perfeito."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[PONTE →] "Fechando a conta:"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A89E25-D830-42FF-845D-193E709C9D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6 — FECHAMENTO (14:00–15:00)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 AUC DE 0,785 E UMA RÉGUA CALIBRADA POR CUSTO, O MODELO SUSTENTA APROVAÇÃO DE ~70% DA CARTEIRA COM RISCO SOB CONTROLE. E SABEMOS EXATAMENTE ONDE ELE É MAIS FRACO — JOVENS E THIN-FILE — E JÁ DESENHAMOS REVISÃO HUMANA PRA ESSES CASOS."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próximo passo é o deploy como serviço de predição — API, dashboard, orquestração e monitoramento de drift — que é a etapa individual de cada um de nós. Obrigado; estamos à disposição pras perguntas."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LEMBRETES PARA A BANCA: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Se estourar o tempo: cortar daqui, nunca da avaliação.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Modificação ao vivo: Model/config.yaml (champion.params = hiperparâmetros; business = custos do threshold) + python Model/train.py.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Respostas prontas: ver Parte 4 do guia (docs/guia_apresentacao_demoday.md).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9ED22B-D064-4580-8FE3-1BE1FA31B7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6 — FECHAMENTO (14:00–15:00)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"COM AUC DE 0,785 E UMA RÉGUA CALIBRADA POR CUSTO, O MODELO SUSTENTA APROVAÇÃO DE ~70% DA CARTEIRA COM RISCO SOB CONTROLE. E SABEMOS EXATAMENTE ONDE ELE É MAIS FRACO — JOVENS E THIN-FILE — E JÁ DESENHAMOS REVISÃO HUMANA PRA ESSES CASOS."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"O próximo passo é o deploy como serviço de predição — API, dashboard, orquestração e monitoramento de drift — que é a etapa individual de cada um de nós. Obrigado; estamos à disposição pras perguntas."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LEMBRETES PARA A BANCA: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Se estourar o tempo: cortar daqui, nunca da avaliação.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Modificação ao vivo: Model/config.yaml (champion.params = hiperparâmetros; business = custos do threshold) + python Model/train.py.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 Respostas prontas: ver Parte 4 do guia (docs/guia_apresentacao_demoday.md).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DA4B6C-1D4C-4CD3-AA68-43C26F6B5A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202634-ACD6-4FE3-A4ED-CEB03D32E9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EF65A7-8CC4-48A1-9161-B5A4B2A821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6DDED26-E5E6-41FE-82AC-581C9EFD56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446C2D-124F-4027-B0CC-F0C96CC93B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F2790A-82DA-41F0-9112-0CEBAE80D6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BA6048-9E68-4CE4-92C4-35777B1BAA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79B03-CEF3-4907-A457-282F11696E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67861C-8038-45A2-ADEB-487DE553B9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34173D-09B4-4634-AAEA-F849127C99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3CBEB9-4146-4D4F-8CD0-2FD9C7FD92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CA417E-460C-46CA-BEFB-056CA416AC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68580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1234440"/>
            <a:ext cx="1051488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Credit Scoring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2697480"/>
            <a:ext cx="10057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91440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461772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9"/>
          <p:cNvSpPr/>
          <p:nvPr/>
        </p:nvSpPr>
        <p:spPr>
          <a:xfrm>
            <a:off x="457200" y="5715000"/>
            <a:ext cx="297144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Victor Burkert</a:t>
            </a:r>
            <a:br>
              <a:rPr sz="1400"/>
            </a:br>
            <a:r>
              <a:rPr lang="en-US" sz="14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Gabriel Sabino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832104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8366760" y="463644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822960" y="58978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3"/>
          <p:cNvSpPr/>
          <p:nvPr/>
        </p:nvSpPr>
        <p:spPr>
          <a:xfrm>
            <a:off x="823320" y="1234800"/>
            <a:ext cx="1051488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Credit Scoring</a:t>
            </a:r>
            <a:br>
              <a:rPr sz="4400"/>
            </a:b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 de conclusão de Curso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31"/>
          <p:cNvSpPr/>
          <p:nvPr/>
        </p:nvSpPr>
        <p:spPr>
          <a:xfrm>
            <a:off x="822960" y="685800"/>
            <a:ext cx="10514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2"/>
          <p:cNvSpPr/>
          <p:nvPr/>
        </p:nvSpPr>
        <p:spPr>
          <a:xfrm>
            <a:off x="822960" y="1234440"/>
            <a:ext cx="1051488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Crédito para quem o sistema não enxerga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5"/>
          <p:cNvSpPr/>
          <p:nvPr/>
        </p:nvSpPr>
        <p:spPr>
          <a:xfrm>
            <a:off x="822960" y="2697480"/>
            <a:ext cx="1005768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Um modelo de credit scoring que decide com o dado que existe — e que sabe dizer onde ele mesmo não é confiável.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"/>
          <p:cNvSpPr/>
          <p:nvPr/>
        </p:nvSpPr>
        <p:spPr>
          <a:xfrm>
            <a:off x="82296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36"/>
          <p:cNvSpPr/>
          <p:nvPr/>
        </p:nvSpPr>
        <p:spPr>
          <a:xfrm>
            <a:off x="91440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8,07%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7"/>
          <p:cNvSpPr/>
          <p:nvPr/>
        </p:nvSpPr>
        <p:spPr>
          <a:xfrm>
            <a:off x="96012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da carteira entra em inadimplência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2"/>
          <p:cNvSpPr/>
          <p:nvPr/>
        </p:nvSpPr>
        <p:spPr>
          <a:xfrm>
            <a:off x="452628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8"/>
          <p:cNvSpPr/>
          <p:nvPr/>
        </p:nvSpPr>
        <p:spPr>
          <a:xfrm>
            <a:off x="461772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até 56%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9"/>
          <p:cNvSpPr/>
          <p:nvPr/>
        </p:nvSpPr>
        <p:spPr>
          <a:xfrm>
            <a:off x="466344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dos casos sem score de bureau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3"/>
          <p:cNvSpPr/>
          <p:nvPr/>
        </p:nvSpPr>
        <p:spPr>
          <a:xfrm>
            <a:off x="8229600" y="3749040"/>
            <a:ext cx="3382560" cy="15994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40"/>
          <p:cNvSpPr/>
          <p:nvPr/>
        </p:nvSpPr>
        <p:spPr>
          <a:xfrm>
            <a:off x="8321040" y="3858840"/>
            <a:ext cx="3199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0,785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1"/>
          <p:cNvSpPr/>
          <p:nvPr/>
        </p:nvSpPr>
        <p:spPr>
          <a:xfrm>
            <a:off x="8366760" y="4636080"/>
            <a:ext cx="3108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AUC do modelo no teste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2"/>
          <p:cNvSpPr/>
          <p:nvPr/>
        </p:nvSpPr>
        <p:spPr>
          <a:xfrm>
            <a:off x="822960" y="58978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502920" y="292680"/>
            <a:ext cx="11154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Todo erro tem um preço — e os preços são diferentes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502920" y="1600200"/>
            <a:ext cx="5485680" cy="19652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502920" y="1710000"/>
            <a:ext cx="50040" cy="174564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731520" y="1764720"/>
            <a:ext cx="507420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Falso negativo — aprovar quem não paga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Custa o crédito inteiro: o valor emprestado não volta.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Custo relativo na matriz de custo: 10×.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6217920" y="1600200"/>
            <a:ext cx="5485680" cy="19652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6217920" y="1710000"/>
            <a:ext cx="50040" cy="17456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6446520" y="1764720"/>
            <a:ext cx="5074200" cy="16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Falso positivo — negar quem pagaria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Custa margem, receita e um cliente — e exclui do sistema financeiro.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Custo relativo na matriz de custo: 1×.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10"/>
          <p:cNvSpPr/>
          <p:nvPr/>
        </p:nvSpPr>
        <p:spPr>
          <a:xfrm>
            <a:off x="502920" y="3886200"/>
            <a:ext cx="11200680" cy="1370880"/>
          </a:xfrm>
          <a:prstGeom prst="roundRect">
            <a:avLst>
              <a:gd name="adj" fmla="val 7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777240" y="4069080"/>
            <a:ext cx="10697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O melhor dado é o que menos existe. </a:t>
            </a: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Os scores externos de bureau são o sinal mais forte — correlação de −0,16 a −0,18 com o inadimplência — e faltam em 20% a 56% dos casos.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502920" y="5623560"/>
            <a:ext cx="1120068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Pergunta de negócio: </a:t>
            </a:r>
            <a:r>
              <a:rPr lang="en-US" sz="15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qual a probabilidade de default de cada cliente — e qual o ponto de corte que maximiza o resultado financeiro?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Sucesso medido em dois níveis: técnico (AUC, KS) e de negócio (taxa de aprovação, perda evitada).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02920" y="292680"/>
            <a:ext cx="11154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2a78d6"/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EDA: tem sinal, tem sujeira e é desbalanceado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50292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9436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307.511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640080" y="221292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clientes na tabela principal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429768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438912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124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4434840" y="221292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variáveis brutas de cadastro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0"/>
          <p:cNvSpPr/>
          <p:nvPr/>
        </p:nvSpPr>
        <p:spPr>
          <a:xfrm>
            <a:off x="8092440" y="1600200"/>
            <a:ext cx="3611160" cy="132516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8183880" y="171000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8,07%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8229600" y="2212920"/>
            <a:ext cx="33368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de inadimplência (TARGET = 1)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3"/>
          <p:cNvSpPr/>
          <p:nvPr/>
        </p:nvSpPr>
        <p:spPr>
          <a:xfrm>
            <a:off x="50292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4"/>
          <p:cNvSpPr/>
          <p:nvPr/>
        </p:nvSpPr>
        <p:spPr>
          <a:xfrm>
            <a:off x="502920" y="3310200"/>
            <a:ext cx="50040" cy="243144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731520" y="3364920"/>
            <a:ext cx="319968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1 · Tem sinal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O risco é muito desigual por segmento: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— tipo de renda: inadimplência de 0% a ~40%;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— escolaridade: de 1,8% a 10,9%.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Dá para separar bons e maus pagadores.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429768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7"/>
          <p:cNvSpPr/>
          <p:nvPr/>
        </p:nvSpPr>
        <p:spPr>
          <a:xfrm>
            <a:off x="4297680" y="3310200"/>
            <a:ext cx="50040" cy="243144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8"/>
          <p:cNvSpPr/>
          <p:nvPr/>
        </p:nvSpPr>
        <p:spPr>
          <a:xfrm>
            <a:off x="4526280" y="3364920"/>
            <a:ext cx="319968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2 · Tem sujeira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DAYS_EMPLOYED = 365.243 (~1.000 anos!):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código de 'não se aplica' disfarçado de número → NaN.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CODE_GENDER = 'XNA' → NaN.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Sem tratar, o modelo aprende padrão falso.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9"/>
          <p:cNvSpPr/>
          <p:nvPr/>
        </p:nvSpPr>
        <p:spPr>
          <a:xfrm>
            <a:off x="8092440" y="3200400"/>
            <a:ext cx="3611160" cy="26510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0"/>
          <p:cNvSpPr/>
          <p:nvPr/>
        </p:nvSpPr>
        <p:spPr>
          <a:xfrm>
            <a:off x="8092440" y="3310200"/>
            <a:ext cx="50040" cy="2431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1"/>
          <p:cNvSpPr/>
          <p:nvPr/>
        </p:nvSpPr>
        <p:spPr>
          <a:xfrm>
            <a:off x="8321040" y="3364920"/>
            <a:ext cx="3199680" cy="23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3 · É desbalanceado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92 bons para cada 8 maus pagadores.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Aprovar todo mundo daria 92% de acurácia — e zero utilidade.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Métricas primárias: AUC, KS e recall.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2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ABT: 9 tabelas relacionais viram 1 linha por cliente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4"/>
          <p:cNvSpPr/>
          <p:nvPr/>
        </p:nvSpPr>
        <p:spPr>
          <a:xfrm>
            <a:off x="50292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8580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9 tabelas relacionais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bureau · previous_application · POS_CASH · credit_card · installments…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3950280" y="214884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7"/>
          <p:cNvSpPr/>
          <p:nvPr/>
        </p:nvSpPr>
        <p:spPr>
          <a:xfrm>
            <a:off x="443484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461772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Agregações + ratios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mean · sum · max · min · count por cliente + crédito/renda e parcela/renda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7882200" y="214884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0"/>
          <p:cNvSpPr/>
          <p:nvPr/>
        </p:nvSpPr>
        <p:spPr>
          <a:xfrm>
            <a:off x="8366760" y="1737360"/>
            <a:ext cx="3382560" cy="137088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8549640" y="1901880"/>
            <a:ext cx="3016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ABT final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1 linha por SK_ID_CURR × 473 colunas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2"/>
          <p:cNvSpPr/>
          <p:nvPr/>
        </p:nvSpPr>
        <p:spPr>
          <a:xfrm>
            <a:off x="502920" y="3657600"/>
            <a:ext cx="5485680" cy="18280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3"/>
          <p:cNvSpPr/>
          <p:nvPr/>
        </p:nvSpPr>
        <p:spPr>
          <a:xfrm>
            <a:off x="502920" y="3767400"/>
            <a:ext cx="50040" cy="1608480"/>
          </a:xfrm>
          <a:prstGeom prst="rect">
            <a:avLst/>
          </a:prstGeom>
          <a:solidFill>
            <a:srgbClr val="d03b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731520" y="3822120"/>
            <a:ext cx="507420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Cuidado 1 · Sem vazamento de dados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Só entra na ABT o que é conhecido no momento do pedido de crédito.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5"/>
          <p:cNvSpPr/>
          <p:nvPr/>
        </p:nvSpPr>
        <p:spPr>
          <a:xfrm>
            <a:off x="6217920" y="3657600"/>
            <a:ext cx="5485680" cy="18280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6"/>
          <p:cNvSpPr/>
          <p:nvPr/>
        </p:nvSpPr>
        <p:spPr>
          <a:xfrm>
            <a:off x="6217920" y="3767400"/>
            <a:ext cx="50040" cy="16084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6446520" y="3822120"/>
            <a:ext cx="5074200" cy="14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Cuidado 2 · Granularidade garantida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assert de unicidade de SK_ID_CURR: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garantia automática de que nenhum cliente conta duas vezes no treino.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8"/>
          <p:cNvSpPr/>
          <p:nvPr/>
        </p:nvSpPr>
        <p:spPr>
          <a:xfrm>
            <a:off x="502920" y="5760720"/>
            <a:ext cx="11200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Modelos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502920" y="141732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AUC (teste)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5"/>
          <p:cNvSpPr/>
          <p:nvPr/>
        </p:nvSpPr>
        <p:spPr>
          <a:xfrm>
            <a:off x="502920" y="4206240"/>
            <a:ext cx="310824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6"/>
          <p:cNvSpPr/>
          <p:nvPr/>
        </p:nvSpPr>
        <p:spPr>
          <a:xfrm>
            <a:off x="914400" y="2584440"/>
            <a:ext cx="936720" cy="16210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731520" y="227340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0,7712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68580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9"/>
          <p:cNvSpPr/>
          <p:nvPr/>
        </p:nvSpPr>
        <p:spPr>
          <a:xfrm>
            <a:off x="2263320" y="2556000"/>
            <a:ext cx="936720" cy="164952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2080440" y="224532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0,7846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203472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3886200" y="141732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KS (teste)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13"/>
          <p:cNvSpPr/>
          <p:nvPr/>
        </p:nvSpPr>
        <p:spPr>
          <a:xfrm>
            <a:off x="3886200" y="4206240"/>
            <a:ext cx="310824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14"/>
          <p:cNvSpPr/>
          <p:nvPr/>
        </p:nvSpPr>
        <p:spPr>
          <a:xfrm>
            <a:off x="4297680" y="3351960"/>
            <a:ext cx="936720" cy="8535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4114800" y="304092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0,4062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406908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7"/>
          <p:cNvSpPr/>
          <p:nvPr/>
        </p:nvSpPr>
        <p:spPr>
          <a:xfrm>
            <a:off x="5646600" y="3291480"/>
            <a:ext cx="936720" cy="91404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5463720" y="2980800"/>
            <a:ext cx="130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0,4349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5418000" y="4270320"/>
            <a:ext cx="139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685800" y="5111640"/>
            <a:ext cx="145440" cy="145440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1"/>
          <p:cNvSpPr/>
          <p:nvPr/>
        </p:nvSpPr>
        <p:spPr>
          <a:xfrm>
            <a:off x="923400" y="50612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Baseline — Reg. Logística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22"/>
          <p:cNvSpPr/>
          <p:nvPr/>
        </p:nvSpPr>
        <p:spPr>
          <a:xfrm>
            <a:off x="3611880" y="5111640"/>
            <a:ext cx="145440" cy="145440"/>
          </a:xfrm>
          <a:prstGeom prst="roundRect">
            <a:avLst>
              <a:gd name="adj" fmla="val 35000"/>
            </a:avLst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3"/>
          <p:cNvSpPr/>
          <p:nvPr/>
        </p:nvSpPr>
        <p:spPr>
          <a:xfrm>
            <a:off x="3849480" y="506124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Campeão — LightGBM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502920" y="5623560"/>
            <a:ext cx="6582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Baseline interpretável (imputação + scaling + one-hot, classes balanceadas) é a régua: a complexidade extra do campeão se paga.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25"/>
          <p:cNvSpPr/>
          <p:nvPr/>
        </p:nvSpPr>
        <p:spPr>
          <a:xfrm>
            <a:off x="7406640" y="169164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26"/>
          <p:cNvSpPr/>
          <p:nvPr/>
        </p:nvSpPr>
        <p:spPr>
          <a:xfrm>
            <a:off x="7406640" y="180144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7"/>
          <p:cNvSpPr/>
          <p:nvPr/>
        </p:nvSpPr>
        <p:spPr>
          <a:xfrm>
            <a:off x="7635240" y="185616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Nulos são informação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Trata nulos nativamente — 'não ter bureau' é um fato do cliente, não erro de coleta.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8"/>
          <p:cNvSpPr/>
          <p:nvPr/>
        </p:nvSpPr>
        <p:spPr>
          <a:xfrm>
            <a:off x="7406640" y="320040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9"/>
          <p:cNvSpPr/>
          <p:nvPr/>
        </p:nvSpPr>
        <p:spPr>
          <a:xfrm>
            <a:off x="7406640" y="331020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0"/>
          <p:cNvSpPr/>
          <p:nvPr/>
        </p:nvSpPr>
        <p:spPr>
          <a:xfrm>
            <a:off x="7635240" y="336492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Categóricas nativas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Alta cardinalidade sem explodir em centenas de colunas one-hot.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31"/>
          <p:cNvSpPr/>
          <p:nvPr/>
        </p:nvSpPr>
        <p:spPr>
          <a:xfrm>
            <a:off x="7406640" y="4709160"/>
            <a:ext cx="4296960" cy="13708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32"/>
          <p:cNvSpPr/>
          <p:nvPr/>
        </p:nvSpPr>
        <p:spPr>
          <a:xfrm>
            <a:off x="7406640" y="4818960"/>
            <a:ext cx="50040" cy="115128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3"/>
          <p:cNvSpPr/>
          <p:nvPr/>
        </p:nvSpPr>
        <p:spPr>
          <a:xfrm>
            <a:off x="7635240" y="4873680"/>
            <a:ext cx="388548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Não-linearidades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Boosting: centenas de árvores pequenas, cada uma corrigindo os erros da anterior.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4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Controle de Overfitting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502920" y="14173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AUC por conjunto — “88 cai pra 78 e fica”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502920" y="4663440"/>
            <a:ext cx="5119920" cy="16920"/>
          </a:xfrm>
          <a:prstGeom prst="rect">
            <a:avLst/>
          </a:prstGeom>
          <a:solidFill>
            <a:srgbClr val="c3c2b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7360" bIns="-273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914400" y="2402640"/>
            <a:ext cx="1157400" cy="22600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731520" y="209196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0,883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68580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Treino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9"/>
          <p:cNvSpPr/>
          <p:nvPr/>
        </p:nvSpPr>
        <p:spPr>
          <a:xfrm>
            <a:off x="2484000" y="2664000"/>
            <a:ext cx="1157400" cy="19987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2301120" y="235296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225540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Validação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2"/>
          <p:cNvSpPr/>
          <p:nvPr/>
        </p:nvSpPr>
        <p:spPr>
          <a:xfrm>
            <a:off x="4053960" y="2653560"/>
            <a:ext cx="1157400" cy="200916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3871080" y="2342520"/>
            <a:ext cx="1523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0,785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3825360" y="4727520"/>
            <a:ext cx="1614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Teste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502920" y="5303520"/>
            <a:ext cx="5302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Gap treino→validação: esperado com 473 features.  </a:t>
            </a:r>
            <a:r>
              <a:rPr lang="en-US" sz="125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Validação ≈ teste: o modelo generaliza.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6"/>
          <p:cNvSpPr/>
          <p:nvPr/>
        </p:nvSpPr>
        <p:spPr>
          <a:xfrm>
            <a:off x="6126480" y="1691640"/>
            <a:ext cx="5577120" cy="15994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7"/>
          <p:cNvSpPr/>
          <p:nvPr/>
        </p:nvSpPr>
        <p:spPr>
          <a:xfrm>
            <a:off x="6126480" y="1801440"/>
            <a:ext cx="50040" cy="13798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6355080" y="1856160"/>
            <a:ext cx="5165640" cy="12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Freio automático: early stopping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Teto de 2.000 árvores; o treino parou sozinho na iteração 783,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quando o AUC de validação ficou 100 rodadas sem melhorar.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9"/>
          <p:cNvSpPr/>
          <p:nvPr/>
        </p:nvSpPr>
        <p:spPr>
          <a:xfrm>
            <a:off x="6126480" y="3429000"/>
            <a:ext cx="5577120" cy="228528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0"/>
          <p:cNvSpPr/>
          <p:nvPr/>
        </p:nvSpPr>
        <p:spPr>
          <a:xfrm>
            <a:off x="6126480" y="3538800"/>
            <a:ext cx="50040" cy="206568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6355080" y="3593520"/>
            <a:ext cx="5165640" cy="19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Hiperparâmetros contêm complexidade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Árvores rasas: max_depth 8, num_leaves 34, ≥70 clientes por folha.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Aprendizado lento: learning_rate 0,02.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Amostragem parcial: 80% das linhas e colunas por árvore.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Regularização L1/L2 (0,1). Tudo mira generalização, não decoreba.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2"/>
          <p:cNvSpPr/>
          <p:nvPr/>
        </p:nvSpPr>
        <p:spPr>
          <a:xfrm>
            <a:off x="6126480" y="5852160"/>
            <a:ext cx="5577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Se fosse overfitting, o teste despencaria abaixo da validação. Não despencou.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502920" y="6473880"/>
            <a:ext cx="11154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502920" y="567000"/>
            <a:ext cx="111549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Do score à decisão: régua calibrada por custo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ounded Rectangle 4"/>
          <p:cNvSpPr/>
          <p:nvPr/>
        </p:nvSpPr>
        <p:spPr>
          <a:xfrm>
            <a:off x="50292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59436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0,785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64008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AUC no teste — poder de ordenação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429768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438912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0,435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443484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KS no teste — acima do patamar 0,40 do mercado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0"/>
          <p:cNvSpPr/>
          <p:nvPr/>
        </p:nvSpPr>
        <p:spPr>
          <a:xfrm>
            <a:off x="8092440" y="1645920"/>
            <a:ext cx="3611160" cy="146232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8183880" y="1755720"/>
            <a:ext cx="3428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~70%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8229600" y="2395800"/>
            <a:ext cx="3336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95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da carteira aprovada no corte ótimo (69–72%)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3"/>
          <p:cNvSpPr/>
          <p:nvPr/>
        </p:nvSpPr>
        <p:spPr>
          <a:xfrm>
            <a:off x="502920" y="3429000"/>
            <a:ext cx="5485680" cy="214812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14"/>
          <p:cNvSpPr/>
          <p:nvPr/>
        </p:nvSpPr>
        <p:spPr>
          <a:xfrm>
            <a:off x="502920" y="3538800"/>
            <a:ext cx="50040" cy="192852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5"/>
          <p:cNvSpPr/>
          <p:nvPr/>
        </p:nvSpPr>
        <p:spPr>
          <a:xfrm>
            <a:off x="731520" y="3593520"/>
            <a:ext cx="507420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Threshold por matriz de custo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Errar aprovando (FN) custa 10× errar negando (FP).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Testamos todos os cortes e escolhemos o que minimiza a perda esperada.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Não é um corte arbitrário — é o corte que otimiza o resultado financeiro.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6"/>
          <p:cNvSpPr/>
          <p:nvPr/>
        </p:nvSpPr>
        <p:spPr>
          <a:xfrm>
            <a:off x="6217920" y="3429000"/>
            <a:ext cx="5485680" cy="214812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7"/>
          <p:cNvSpPr/>
          <p:nvPr/>
        </p:nvSpPr>
        <p:spPr>
          <a:xfrm>
            <a:off x="6217920" y="3538800"/>
            <a:ext cx="50040" cy="1928520"/>
          </a:xfrm>
          <a:prstGeom prst="rect">
            <a:avLst/>
          </a:prstGeom>
          <a:solidFill>
            <a:srgbClr val="1baf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6446520" y="3593520"/>
            <a:ext cx="507420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Explicabilidade — SHAP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Contribuição por variável, por cliente: quanto cada feature empurrou o score.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É o que permite justificar uma negação de crédito.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Governança: sem explicabilidade, modelo de crédito não vai a produção.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9"/>
          <p:cNvSpPr/>
          <p:nvPr/>
        </p:nvSpPr>
        <p:spPr>
          <a:xfrm>
            <a:off x="502920" y="5806440"/>
            <a:ext cx="11200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AUC não paga boleto — a régua de decisão e a explicabilidade transformam score em resultado de negócio.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0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1"/>
          <p:cNvSpPr/>
          <p:nvPr/>
        </p:nvSpPr>
        <p:spPr>
          <a:xfrm>
            <a:off x="502920" y="292680"/>
            <a:ext cx="11154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502920" y="567000"/>
            <a:ext cx="1115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Fomos procurar onde o modelo falha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530280" y="1298520"/>
            <a:ext cx="1462320" cy="37440"/>
          </a:xfrm>
          <a:prstGeom prst="rect">
            <a:avLst/>
          </a:prstGeom>
          <a:solidFill>
            <a:srgbClr val="2a78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3" name="Table 4"/>
          <p:cNvGraphicFramePr/>
          <p:nvPr/>
        </p:nvGraphicFramePr>
        <p:xfrm>
          <a:off x="502920" y="1645920"/>
          <a:ext cx="11201040" cy="301644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371600"/>
                <a:gridCol w="1554480"/>
                <a:gridCol w="4343400"/>
              </a:tblGrid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Segmento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AUC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Aprovação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Default real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Leitura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d366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Geral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0,785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~70%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8,07%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referência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Homens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0,783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60,6%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10,2%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AUC igual → reflete risco real, não viés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efec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Mulheres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0,778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74,3%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7,0%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&lt; 25 anos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0,739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11,7%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fraqueza real — e o grupo de maior risco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55–65 anos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fraqueza real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  <a:tr h="4309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Thin-file (14,3% da base)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d03b3b"/>
                          </a:solidFill>
                          <a:effectLst/>
                          <a:uFillTx/>
                          <a:latin typeface="Calibri"/>
                        </a:rPr>
                        <a:t>0,773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57,3%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menos dado = score menos confiável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ae3e3"/>
                    </a:solidFill>
                  </a:tcPr>
                </a:tc>
              </a:tr>
            </a:tbl>
          </a:graphicData>
        </a:graphic>
      </p:graphicFrame>
      <p:sp>
        <p:nvSpPr>
          <p:cNvPr id="224" name="Rounded Rectangle 5"/>
          <p:cNvSpPr/>
          <p:nvPr/>
        </p:nvSpPr>
        <p:spPr>
          <a:xfrm>
            <a:off x="502920" y="4983480"/>
            <a:ext cx="11200680" cy="105084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777240" y="5139000"/>
            <a:ext cx="10697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d366b"/>
                </a:solidFill>
                <a:effectLst/>
                <a:uFillTx/>
                <a:latin typeface="Calibri"/>
              </a:rPr>
              <a:t>Mitigação — human-in-the-loop: </a:t>
            </a:r>
            <a:r>
              <a:rPr lang="en-US" sz="14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nos segmentos de AUC baixo (jovens e thin-file), a decisão não é 100% automática — vai a um analista com o relatório SHAP do caso.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502920" y="6473880"/>
            <a:ext cx="1115496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822960" y="64008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822960" y="1143000"/>
            <a:ext cx="10514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~70% de aprovação com o risco sob controle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822960" y="2560320"/>
            <a:ext cx="10332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AUC 0,785 · KS 0,435 · régua calibrada por custo (erro de aprovação custa 10×).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cde2fb"/>
                </a:solidFill>
                <a:effectLst/>
                <a:uFillTx/>
                <a:latin typeface="Calibri"/>
              </a:rPr>
              <a:t>Sabemos onde o modelo é mais fraco — jovens e thin-file — e a revisão humana já está desenhada para esses casos.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822960" y="589788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5"/>
          <p:cNvSpPr/>
          <p:nvPr/>
        </p:nvSpPr>
        <p:spPr>
          <a:xfrm>
            <a:off x="822960" y="640080"/>
            <a:ext cx="10514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6"/>
          <p:cNvSpPr/>
          <p:nvPr/>
        </p:nvSpPr>
        <p:spPr>
          <a:xfrm>
            <a:off x="822960" y="1143000"/>
            <a:ext cx="1051488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Muito obrigado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8"/>
          <p:cNvSpPr/>
          <p:nvPr/>
        </p:nvSpPr>
        <p:spPr>
          <a:xfrm>
            <a:off x="822960" y="2459160"/>
            <a:ext cx="10332000" cy="9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9"/>
          <p:cNvSpPr/>
          <p:nvPr/>
        </p:nvSpPr>
        <p:spPr>
          <a:xfrm>
            <a:off x="822960" y="589788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LibreOffice/25.8.7.3$Linux_X86_64 LibreOffice_project/514782dd10a01758e1df8fd7e9a2d52970377f07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2026-07-13T21:34:26Z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