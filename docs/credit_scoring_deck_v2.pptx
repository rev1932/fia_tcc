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0 — ABERTURA (0:00–1:00)</a:t>
            </a:r>
          </a:p>
          <a:p/>
          <a:p>
            <a:r>
              <a:t>"Uma financeira de crédito perde dinheiro dos dois lados: quando aprova quem não paga — e 8% da carteira entra em default — e quando nega quem pagaria, perdendo receita e excluindo gente do sistema financeiro."</a:t>
            </a:r>
          </a:p>
          <a:p/>
          <a:p>
            <a:r>
              <a:t>"E o pior: a ferramenta que o mercado usa pra essa decisão — o score de bureau, tipo Serasa — FALTA EM ATÉ 56% DOS CASOS no nosso público, que é sub-bancarizado."</a:t>
            </a:r>
          </a:p>
          <a:p/>
          <a:p>
            <a:r>
              <a:t>"A gente construiu um modelo de credit scoring que decide com o dado que existe — e que sabe dizer onde ele mesmo não é confiável."</a:t>
            </a:r>
          </a:p>
          <a:p/>
          <a:p>
            <a:r>
              <a:t>"Somos [nomes]. Nos próximos 15 minutos: o problema, os dados, o modelo e — a parte mais importante — a avaliação crítica dele."</a:t>
            </a:r>
          </a:p>
          <a:p/>
          <a:p>
            <a:r>
              <a:t>Âncoras: 8% default · 56% sem bureau · 15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1 — PROBLEMA DE NEGÓCIO (1:00–4:00)</a:t>
            </a:r>
          </a:p>
          <a:p/>
          <a:p>
            <a:r>
              <a:t>"Nossa empresa é uma financeira de crédito ao consumidor para público sub-bancarizado — gente com pouco ou nenhum histórico bancário."</a:t>
            </a:r>
          </a:p>
          <a:p/>
          <a:p>
            <a:r>
              <a:t>"TODO ERRO DE CRÉDITO TEM UM PREÇO, MAS OS PREÇOS SÃO DIFERENTES. Aprovar um mau pagador — o falso negativo — custa o crédito inteiro. Negar um bom pagador — o falso positivo — custa a margem e um cliente. Na nossa matriz de custo, o primeiro erro custa 10 VEZES MAIS que o segundo."</a:t>
            </a:r>
          </a:p>
          <a:p/>
          <a:p>
            <a:r>
              <a:t>"Por que esse problema é difícil? Porque o sinal mais forte que existe — os scores externos de bureau, as variáveis EXT_SOURCE — tem correlação de −0,16 a −0,18 com o default... e é justamente o dado que mais falta: de 20 a 56% de nulos."</a:t>
            </a:r>
          </a:p>
          <a:p/>
          <a:p>
            <a:r>
              <a:t>(Pausa) "O MELHOR DADO É O QUE MENOS EXISTE. É esse o problema que fomos resolver."</a:t>
            </a:r>
          </a:p>
          <a:p/>
          <a:p>
            <a:r>
              <a:t>"A pergunta de negócio: qual a probabilidade de cada cliente dar default, e qual o ponto de corte que maximiza o resultado financeiro? Sucesso em dois níveis: métricas técnicas — AUC e KS — e de negócio — taxa de aprovação e perda evitada."</a:t>
            </a:r>
          </a:p>
          <a:p/>
          <a:p>
            <a:r>
              <a:t>[PONTE →] "Pra responder isso, primeiro fomos entender os dados. E a análise exploratória confirmou que o problema era real — e nos deu três direções."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2 — EDA (4:00–6:00)</a:t>
            </a:r>
          </a:p>
          <a:p/>
          <a:p>
            <a:r>
              <a:t>"Trabalhamos com 307.511 CLIENTES E 124 VARIÁVEIS na tabela principal — 8,07% DE DEFAULT."</a:t>
            </a:r>
          </a:p>
          <a:p/>
          <a:p>
            <a:r>
              <a:t>"Três achados que direcionaram tudo:"</a:t>
            </a:r>
          </a:p>
          <a:p/>
          <a:p>
            <a:r>
              <a:t>"UM: O RISCO É MUITO DESIGUAL POR SEGMENTO. Por tipo de renda, o default vai de 0% a quase 40%. Por escolaridade, de 1,8% a 10,9%. Ou seja: tem sinal nos dados — dá pra separar bons e maus pagadores."</a:t>
            </a:r>
          </a:p>
          <a:p/>
          <a:p>
            <a:r>
              <a:t>"DOIS: OS DADOS MENTEM SE VOCÊ NÃO OLHAR. Encontramos clientes com 365 mil dias de emprego — mil anos trabalhando. Era um código de 'não se aplica' pra pensionistas, disfarçado de número. Convertemos pra nulo explícito, senão o modelo aprenderia um padrão falso. Mesmo tratamento pro gênero 'XNA'."</a:t>
            </a:r>
          </a:p>
          <a:p/>
          <a:p>
            <a:r>
              <a:t>"TRÊS: A BASE É DESBALANCEADA — 92 bons pra cada 8 maus. Isso descarta a acurácia como métrica: um modelo que aprova todo mundo teria 92% de acurácia e seria inútil. POR ISSO NOSSAS MÉTRICAS PRIMÁRIAS SÃO AUC, KS E RECALL."</a:t>
            </a:r>
          </a:p>
          <a:p/>
          <a:p>
            <a:r>
              <a:t>[PONTE →] "Entendido o dado, o próximo desafio: ele está espalhado em 9 tabelas relacionais — e o modelo precisa de uma linha por cliente. É aí que entra a ABT."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3 — ABT (6:00–8:00)</a:t>
            </a:r>
          </a:p>
          <a:p/>
          <a:p>
            <a:r>
              <a:t>"ABT — Analytical Base Table — é a tabela final de modelagem: UMA LINHA POR CLIENTE, 473 COLUNAS."</a:t>
            </a:r>
          </a:p>
          <a:p/>
          <a:p>
            <a:r>
              <a:t>"O desafio: um cliente pode ter 20 empréstimos anteriores, dezenas de parcelas, histórico de cartão... Agregamos as 9 tabelas — bureau, pedidos anteriores, POS, cartão, parcelas — com média, soma, máximo, mínimo e contagem. E criamos ratios de negócio: CRÉDITO SOBRE RENDA E PARCELA SOBRE RENDA — o comprometimento de renda que qualquer analista de crédito olharia."</a:t>
            </a:r>
          </a:p>
          <a:p/>
          <a:p>
            <a:r>
              <a:t>(Os dois cuidados de engenharia — a banca valoriza isso:)</a:t>
            </a:r>
          </a:p>
          <a:p/>
          <a:p>
            <a:r>
              <a:t>"PRIMEIRO CUIDADO: VAZAMENTO DE DADOS. Só entra na ABT o que é conhecido NO MOMENTO DO PEDIDO DE CRÉDITO. Nada do futuro. Vazamento é o erro que faz o modelo parecer ótimo no notebook e falhar em produção."</a:t>
            </a:r>
          </a:p>
          <a:p/>
          <a:p>
            <a:r>
              <a:t>"SEGUNDO CUIDADO: GRANULARIDADE. Temos um assert de unicidade do ID do cliente — garantia automática de que ninguém conta duas vezes no treino."</a:t>
            </a:r>
          </a:p>
          <a:p/>
          <a:p>
            <a:r>
              <a:t>[PONTE →] "Com a ABT pronta, fomos modelar. E a nossa regra foi: nenhum modelo complexo se justifica sem antes bater um modelo simples."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4a — MODELO (8:00–11:00)</a:t>
            </a:r>
          </a:p>
          <a:p/>
          <a:p>
            <a:r>
              <a:t>"COMEÇAMOS PELO BASELINE: REGRESSÃO LOGÍSTICA — o modelo clássico de crédito, simples e interpretável. Com imputação, scaling, one-hot e balanceamento de classes: AUC DE 0,7712 NO TESTE, KS DE 0,4062. Essa é a régua."</a:t>
            </a:r>
          </a:p>
          <a:p/>
          <a:p>
            <a:r>
              <a:t>"O CAMPEÃO: LIGHTGBM — gradient boosting, centenas de árvores pequenas em que cada uma corrige os erros da anterior. AUC 0,7846, KS 0,4349. Bateu o baseline."</a:t>
            </a:r>
          </a:p>
          <a:p/>
          <a:p>
            <a:r>
              <a:t>"Por que o LightGBM venceu NESTE dataset? Dois motivos estruturais: ELE TRATA NULOS NATIVAMENTE — e os nossos nulos não são erro de coleta, são informação: 'não ter bureau' é um fato sobre o cliente. E TRATA CATEGÓRICAS NATIVAMENTE, sem explodir one-hot. Além de capturar não-linearidades que a regressão não vê."</a:t>
            </a:r>
          </a:p>
          <a:p/>
          <a:p>
            <a:r>
              <a:t>(→ continua no próximo slide: overfitting)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4b — OVERFITTING (dentro de 8:00–11:00)</a:t>
            </a:r>
          </a:p>
          <a:p/>
          <a:p>
            <a:r>
              <a:t>(Decorar a sequência de 3 números:)</a:t>
            </a:r>
          </a:p>
          <a:p>
            <a:r>
              <a:t>"AUC DE TREINO 0,883, VALIDAÇÃO 0,781, TESTE 0,785."</a:t>
            </a:r>
          </a:p>
          <a:p/>
          <a:p>
            <a:r>
              <a:t>"O gap treino-validação é esperado com 473 features. O que importa é que VALIDAÇÃO E TESTE EMPATAM — se fosse overfitting, o teste despencaria abaixo da validação. Não despencou: o modelo generaliza."</a:t>
            </a:r>
          </a:p>
          <a:p/>
          <a:p>
            <a:r>
              <a:t>"O mecanismo de controle foi o EARLY STOPPING: demos teto de 2000 árvores, e o treino parou sozinho na ITERAÇÃO 783, quando a validação parou de melhorar. Os hiperparâmetros seguem a mesma filosofia: árvores rasas, aprendizado lento, regularização — tudo contendo complexidade."</a:t>
            </a:r>
          </a:p>
          <a:p/>
          <a:p>
            <a:r>
              <a:t>Truque: 783 ≈ AUC ×1000 (0,785) — a 'regra do 78'.</a:t>
            </a:r>
          </a:p>
          <a:p/>
          <a:p>
            <a:r>
              <a:t>[PONTE →] "Modelo treinado e sob controle. Mas AUC não paga boleto — a pergunta final é: o que esse modelo entrega pro negócio, e onde ele falha? Esse é o slide mais importante."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5a — AVALIAÇÃO: PERFORMANCE E RÉGUA (11:00–14:00)</a:t>
            </a:r>
          </a:p>
          <a:p/>
          <a:p>
            <a:r>
              <a:t>"PERFORMANCE: AUC 0,785, KS 0,435 NO TESTE. KS acima de 0,40 é o patamar que o mercado de crédito considera bom. Isso dá poder de ordenação suficiente pra sustentar uma régua de decisão."</a:t>
            </a:r>
          </a:p>
          <a:p/>
          <a:p>
            <a:r>
              <a:t>"A RÉGUA: calibramos o threshold pela matriz de custo — errar aprovando custa 10x errar negando. O corte ótimo aprova CERCA DE 70% DA CARTEIRA com o risco sob controle. Não é um corte arbitrário: é o corte que minimiza perda esperada."</a:t>
            </a:r>
          </a:p>
          <a:p/>
          <a:p>
            <a:r>
              <a:t>"EXPLICABILIDADE: SHAP. Pra cada cliente, sabemos quanto cada variável empurrou o score. Isso é o que permite justificar uma negação de crédito — governança. Sem isso, modelo de crédito não vai pra produção."</a:t>
            </a:r>
          </a:p>
          <a:p/>
          <a:p>
            <a:r>
              <a:t>(→ próximo slide: o diagnóstico crítico — falar com confiança, é o diferencial)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5b — DIAGNÓSTICO CRÍTICO (o diferencial da apresentação)</a:t>
            </a:r>
          </a:p>
          <a:p/>
          <a:p>
            <a:r>
              <a:t>"E agora a parte que a gente considera o diferencial do trabalho: FOMOS PROCURAR ONDE O NOSSO MODELO FALHA."</a:t>
            </a:r>
          </a:p>
          <a:p/>
          <a:p>
            <a:r>
              <a:t>"GÊNERO: o AUC é praticamente igual — 0,783 nos homens, 0,778 nas mulheres. Homens são menos aprovados, sim — 60,6% contra 74,3% — mas porque dão mais default de fato: 10,2% contra 7,0%. O MODELO DISCRIMINA RISCO, NÃO PESSOAS."</a:t>
            </a:r>
          </a:p>
          <a:p/>
          <a:p>
            <a:r>
              <a:t>"IDADE: AQUI HÁ UMA FRAQUEZA REAL. O AUC cai nos extremos — 0,739 nos menores de 25 anos, 0,744 na faixa 55 a 65. E os jovens são justamente o grupo de maior default: 11,7%. O MODELO ENXERGA PIOR EXATAMENTE ONDE O RISCO É MAIOR."</a:t>
            </a:r>
          </a:p>
          <a:p/>
          <a:p>
            <a:r>
              <a:t>"THIN-FILE: 14,3% da base não tem histórico de bureau. AUC menor — 0,773 — e aprovação bem menor: 57,3% contra 71,7%. Confirma a tese: menos dado, score menos confiável."</a:t>
            </a:r>
          </a:p>
          <a:p/>
          <a:p>
            <a:r>
              <a:t>"NOSSA MITIGAÇÃO: HUMAN-IN-THE-LOOP. Nos segmentos de AUC baixo — jovens e thin-file — a decisão não é 100% automática: vai pra um analista, acompanhada do relatório SHAP do caso. Assumir a limitação e desenhar o processo em volta dela é mais honesto do que fingir que o modelo é perfeito."</a:t>
            </a:r>
          </a:p>
          <a:p/>
          <a:p>
            <a:r>
              <a:t>[PONTE →] "Fechando a conta:"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6 — FECHAMENTO (14:00–15:00)</a:t>
            </a:r>
          </a:p>
          <a:p/>
          <a:p>
            <a:r>
              <a:t>"COM AUC DE 0,785 E UMA RÉGUA CALIBRADA POR CUSTO, O MODELO SUSTENTA APROVAÇÃO DE ~70% DA CARTEIRA COM RISCO SOB CONTROLE. E SABEMOS EXATAMENTE ONDE ELE É MAIS FRACO — JOVENS E THIN-FILE — E JÁ DESENHAMOS REVISÃO HUMANA PRA ESSES CASOS."</a:t>
            </a:r>
          </a:p>
          <a:p/>
          <a:p>
            <a:r>
              <a:t>"O próximo passo é o deploy como serviço de predição — API, dashboard, orquestração e monitoramento de drift — que é a etapa individual de cada um de nós. Obrigado; estamos à disposição pras perguntas."</a:t>
            </a:r>
          </a:p>
          <a:p/>
          <a:p>
            <a:r>
              <a:t>LEMBRETES PARA A BANCA:</a:t>
            </a:r>
          </a:p>
          <a:p>
            <a:r>
              <a:t>· Se estourar o tempo: cortar daqui, nunca da avaliação.</a:t>
            </a:r>
          </a:p>
          <a:p>
            <a:r>
              <a:t>· Modificação ao vivo: Model/config.yaml (champion.params = hiperparâmetros; business = custos do threshold) + python Model/train.py.</a:t>
            </a:r>
          </a:p>
          <a:p>
            <a:r>
              <a:t>· Respostas prontas: ver Parte 4 do guia (docs/guia_apresentacao_demoday.md).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DE2FB"/>
                </a:solidFill>
                <a:latin typeface="Calibri"/>
              </a:rPr>
              <a:t>DEMODAY · TCC FIA · CREDIT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Crédito para quem o sistema não enxerga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DE2FB"/>
                </a:solidFill>
                <a:latin typeface="Calibri"/>
              </a:rPr>
              <a:t>Um modelo de credit scoring que decide com o dado que existe — e que sabe dizer onde ele mesmo não é confiável.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5876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8,07%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636007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CDE2FB"/>
                </a:solidFill>
                <a:latin typeface="Calibri"/>
              </a:rPr>
              <a:t>da carteira entra em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749039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85876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até 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636007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CDE2FB"/>
                </a:solidFill>
                <a:latin typeface="Calibri"/>
              </a:rPr>
              <a:t>dos casos sem score de bureau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749039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85876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0,785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636007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CDE2FB"/>
                </a:solidFill>
                <a:latin typeface="Calibri"/>
              </a:rPr>
              <a:t>AUC do modelo no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CDE2FB"/>
                </a:solidFill>
                <a:latin typeface="Calibri"/>
              </a:rPr>
              <a:t>Grupo: [nomes dos integrantes]  ·  15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1 · PROBLEMA DE NEGÓCIO · 1:00–4:00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Todo erro tem um preço — e os preços são diferentes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486400" cy="196596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09928"/>
            <a:ext cx="50800" cy="17465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74920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Falso negativo — aprovar quem não paga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Custa o crédito inteiro: o valor emprestado não volta.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Custo relativo na matriz de custo: 10×.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486400" cy="196596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09928"/>
            <a:ext cx="50800" cy="17465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64792"/>
            <a:ext cx="5074920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Falso positivo — negar quem pagaria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Custa margem, receita e um cliente — e exclui do sistema financeiro.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Custo relativo na matriz de custo: 1×.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11201400" cy="1371600"/>
          </a:xfrm>
          <a:prstGeom prst="roundRect">
            <a:avLst>
              <a:gd name="adj" fmla="val 7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0D366B"/>
                </a:solidFill>
                <a:latin typeface="Calibri"/>
              </a:rPr>
              <a:t>O melhor dado é o que menos existe. </a:t>
            </a:r>
            <a:r>
              <a:rPr sz="1500" b="0">
                <a:solidFill>
                  <a:srgbClr val="0B0B0B"/>
                </a:solidFill>
                <a:latin typeface="Calibri"/>
              </a:rPr>
              <a:t>Os scores externos de bureau (EXT_SOURCE_1/2/3) são o sinal mais forte — correlação de −0,16 a −0,18 com o default — e faltam em 20% a 56% dos casos.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23560"/>
            <a:ext cx="11201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Pergunta de negócio: </a:t>
            </a:r>
            <a:r>
              <a:rPr sz="1500" b="0">
                <a:solidFill>
                  <a:srgbClr val="52514E"/>
                </a:solidFill>
                <a:latin typeface="Calibri"/>
              </a:rPr>
              <a:t>qual a probabilidade de default de cada cliente — e qual o ponto de corte que maximiza o resultado financeiro?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Sucesso medido em dois níveis: técnico (AUC, KS) e de negócio (taxa de aprovação, perda evitada).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2 · EDA · 4:00–6:00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EDA: tem sinal, tem sujeira e é desbalanceado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09928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D366B"/>
                </a:solidFill>
                <a:latin typeface="Calibri"/>
              </a:rPr>
              <a:t>307.511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clientes na tabela principal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09928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D366B"/>
                </a:solidFill>
                <a:latin typeface="Calibri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12848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variáveis brutas de cadastro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611880" cy="132588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09928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D366B"/>
                </a:solidFill>
                <a:latin typeface="Calibri"/>
              </a:rPr>
              <a:t>8,07%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de default (TARGET =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10128"/>
            <a:ext cx="50800" cy="243230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64992"/>
            <a:ext cx="3200400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1 · Tem sinal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O risco é muito desigual por segmento: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— tipo de renda: default de 0% a ~40%;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— escolaridade: de 1,8% a 10,9%.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Dá para separar bons e maus pagadores.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20040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310128"/>
            <a:ext cx="50800" cy="24323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364992"/>
            <a:ext cx="3200400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2 · Tem sujeira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DAYS_EMPLOYED = 365.243 (~1.000 anos!):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código de 'não se aplica' disfarçado de número → NaN.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CODE_GENDER = 'XNA' → NaN.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Sem tratar, o modelo aprende padrão falso.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200400"/>
            <a:ext cx="3611880" cy="265176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310128"/>
            <a:ext cx="50800" cy="2432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364992"/>
            <a:ext cx="3200400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3 · É desbalanceado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92 bons para cada 8 maus pagadores.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Aprovar todo mundo daria 92% de acurácia — e zero utilidade.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Métricas primárias: AUC, KS e recall.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Fonte: DataPipeline/exp_analysis.ipynb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3 · ABT · 6:00–8:00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ABT: 9 tabelas relacionais viram 1 linha por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9 tabelas relacionais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bureau · previous_application · POS_CASH · credit_card · installments…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2148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Agregações + ratios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Calibri"/>
              </a:rPr>
              <a:t>mean · sum · max · min · count por cliente + crédito/renda e parcela/renda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148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898781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737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901952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0D366B"/>
                </a:solidFill>
                <a:latin typeface="Calibri"/>
              </a:rPr>
              <a:t>ABT final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0B0B0B"/>
                </a:solidFill>
                <a:latin typeface="Calibri"/>
              </a:rPr>
              <a:t>1 linha por SK_ID_CURR × 473 colunas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67328"/>
            <a:ext cx="50800" cy="160934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22192"/>
            <a:ext cx="50749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Cuidado 1 · Sem vazamento de dados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Só entra na ABT o que é conhecido no momento do pedido de crédito.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Nada do futuro — vazamento faz o modelo brilhar no notebook e falhar em produção.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67328"/>
            <a:ext cx="50800" cy="16093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22192"/>
            <a:ext cx="5074920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Cuidado 2 · Granularidade garantida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assert de unicidade de SK_ID_CURR: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garantia automática de que nenhum cliente conta duas vezes no treino.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60720"/>
            <a:ext cx="11201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Os ratios carregam a lógica do analista de crédito: quanto o crédito e a parcela pesam na renda (comprometimento).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Fonte: DataPipeline/abt_transform.py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4 · MODELO · 8:00–11:00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Baseline primeiro, campeão depois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AUC (teste)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206240"/>
            <a:ext cx="3108960" cy="17780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84314"/>
            <a:ext cx="937260" cy="162192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73418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0,7712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0248"/>
            <a:ext cx="13944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Reg. Logística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3140" y="2556133"/>
            <a:ext cx="937260" cy="1650107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0260" y="2245237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0,7846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4540" y="4270248"/>
            <a:ext cx="13944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4173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KS (teste)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4206240"/>
            <a:ext cx="3108960" cy="17780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351953"/>
            <a:ext cx="937260" cy="85428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3041057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0,4062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270248"/>
            <a:ext cx="13944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Reg. Logística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46420" y="3291594"/>
            <a:ext cx="937260" cy="91464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3540" y="2980698"/>
            <a:ext cx="1303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0,4349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7820" y="4270248"/>
            <a:ext cx="13944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LightGBM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11496"/>
            <a:ext cx="146304" cy="146304"/>
          </a:xfrm>
          <a:prstGeom prst="roundRect">
            <a:avLst>
              <a:gd name="adj" fmla="val 3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06120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Baseline — Reg. Logística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5111496"/>
            <a:ext cx="146304" cy="146304"/>
          </a:xfrm>
          <a:prstGeom prst="roundRect">
            <a:avLst>
              <a:gd name="adj" fmla="val 35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9624" y="506120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Campeão — LightGBM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2356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Baseline interpretável (imputação + scaling + one-hot, classes balanceadas) é a régua: a complexidade extra do campeão se paga.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1691640"/>
            <a:ext cx="4297680" cy="13716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1801368"/>
            <a:ext cx="50800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856232"/>
            <a:ext cx="388620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Nulos são informação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Trata nulos nativamente — 'não ter bureau' é um fato do cliente, não erro de coleta.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200400"/>
            <a:ext cx="4297680" cy="13716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310128"/>
            <a:ext cx="50800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3364992"/>
            <a:ext cx="388620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Categóricas nativas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Alta cardinalidade sem explodir em centenas de colunas one-hot.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4709160"/>
            <a:ext cx="4297680" cy="13716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4818888"/>
            <a:ext cx="50800" cy="115214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873752"/>
            <a:ext cx="388620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Não-linearidades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Boosting: centenas de árvores pequenas, cada uma corrigindo os erros da anterior.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Fonte: Model/train.py · Model/config.yaml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4 · MODELO · 8:00–11:00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Overfitting sob controle: validação e teste empatam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AUC por conjunto — “88 cai pra 78 e fica”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5120640" cy="17780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402678"/>
            <a:ext cx="1158240" cy="226076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91782"/>
            <a:ext cx="152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0,883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27448"/>
            <a:ext cx="1615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Treino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4120" y="2663831"/>
            <a:ext cx="1158240" cy="1999609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1240" y="2352935"/>
            <a:ext cx="152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0,781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520" y="4727448"/>
            <a:ext cx="1615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Validação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3840" y="2653589"/>
            <a:ext cx="1158240" cy="2009851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0960" y="2342693"/>
            <a:ext cx="152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B0B0B"/>
                </a:solidFill>
                <a:latin typeface="Calibri"/>
              </a:rPr>
              <a:t>0,785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5240" y="4727448"/>
            <a:ext cx="1615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Teste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Gap treino→validação: esperado com 473 features.  </a:t>
            </a:r>
            <a:r>
              <a:rPr sz="1250" b="1">
                <a:solidFill>
                  <a:srgbClr val="0B0B0B"/>
                </a:solidFill>
                <a:latin typeface="Calibri"/>
              </a:rPr>
              <a:t>Validação ≈ teste: o modelo generaliza.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91640"/>
            <a:ext cx="5577840" cy="16002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801368"/>
            <a:ext cx="50800" cy="13807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856232"/>
            <a:ext cx="5166360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Freio automático: early stopping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Teto de 2.000 árvores; o treino parou sozinho na iteração 783,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quando o AUC de validação ficou 100 rodadas sem melhorar.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429000"/>
            <a:ext cx="5577840" cy="228600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538728"/>
            <a:ext cx="50800" cy="20665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93592"/>
            <a:ext cx="5166360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Hiperparâmetros contêm complexidade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Árvores rasas: max_depth 8, num_leaves 34, ≥70 clientes por folha.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Aprendizado lento: learning_rate 0,02.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Amostragem parcial: 80% das linhas e colunas por árvore.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Regularização L1/L2 (0,1). Tudo mira generalização, não decoreba.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85216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D366B"/>
                </a:solidFill>
                <a:latin typeface="Calibri"/>
              </a:rPr>
              <a:t>Se fosse overfitting, o teste despencaria abaixo da validação. Não despencou.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Split estratificado 60/20/20, semente fixa · Model/config.yaml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5 · AVALIAÇÃO · 11:00–14:00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Do score à decisão: régua calibrada por custo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11880" cy="146304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55648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D366B"/>
                </a:solidFill>
                <a:latin typeface="Calibri"/>
              </a:rPr>
              <a:t>0,785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AUC no teste — poder de ordenação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611880" cy="146304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55648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D366B"/>
                </a:solidFill>
                <a:latin typeface="Calibri"/>
              </a:rPr>
              <a:t>0,435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95728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KS no teste — acima do patamar 0,40 do mercado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611880" cy="1463040"/>
          </a:xfrm>
          <a:prstGeom prst="roundRect">
            <a:avLst>
              <a:gd name="adj" fmla="val 10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55648"/>
            <a:ext cx="3429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0D366B"/>
                </a:solidFill>
                <a:latin typeface="Calibri"/>
              </a:rP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95728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da carteira aprovada no corte ótimo (69–72%)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29000"/>
            <a:ext cx="5486400" cy="21488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38728"/>
            <a:ext cx="50800" cy="1929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2"/>
            <a:ext cx="5074920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Threshold por matriz de custo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Errar aprovando (FN) custa 10× errar negando (FP).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Testamos todos os cortes e escolhemos o que minimiza a perda esperada.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Não é um corte arbitrário — é o corte que otimiza o resultado financeiro.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486400" cy="2148840"/>
          </a:xfrm>
          <a:prstGeom prst="roundRect">
            <a:avLst>
              <a:gd name="adj" fmla="val 7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38728"/>
            <a:ext cx="50800" cy="19293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593592"/>
            <a:ext cx="5074920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Explicabilidade — SHAP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Contribuição por variável, por cliente: quanto cada feature empurrou o score.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É o que permite justificar uma negação de crédito.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Governança: sem explicabilidade, modelo de crédito não vai a produção.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806440"/>
            <a:ext cx="11201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D366B"/>
                </a:solidFill>
                <a:latin typeface="Calibri"/>
              </a:rPr>
              <a:t>AUC não paga boleto — a régua de decisão e a explicabilidade transformam score em resultado de negócio.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Fonte: Model/evaluation.ipynb (seção 3: curva custo × threshold)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Calibri"/>
              </a:rPr>
              <a:t>SLIDE 5 · AVALIAÇÃO · 11:00–14:00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0D366B"/>
                </a:solidFill>
                <a:latin typeface="Calibri"/>
              </a:rPr>
              <a:t>Fomos procurar onde o modelo falha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98448"/>
            <a:ext cx="146304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20140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1188720"/>
                <a:gridCol w="1371600"/>
                <a:gridCol w="1554480"/>
                <a:gridCol w="4343400"/>
              </a:tblGrid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109728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109728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Aprovação</a:t>
                      </a:r>
                    </a:p>
                  </a:txBody>
                  <a:tcPr marL="109728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Default real</a:t>
                      </a:r>
                    </a:p>
                  </a:txBody>
                  <a:tcPr marL="109728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109728" marR="73152" marT="27432" marB="27432" anchor="ctr">
                    <a:solidFill>
                      <a:srgbClr val="0D366B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Geral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0,785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~70%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8,07%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referência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Homens</a:t>
                      </a:r>
                    </a:p>
                  </a:txBody>
                  <a:tcPr marL="109728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0,783</a:t>
                      </a:r>
                    </a:p>
                  </a:txBody>
                  <a:tcPr marL="109728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60,6%</a:t>
                      </a:r>
                    </a:p>
                  </a:txBody>
                  <a:tcPr marL="109728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10,2%</a:t>
                      </a:r>
                    </a:p>
                  </a:txBody>
                  <a:tcPr marL="109728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AUC igual → reflete risco real, não viés</a:t>
                      </a:r>
                    </a:p>
                  </a:txBody>
                  <a:tcPr marL="109728" marR="73152" marT="27432" marB="27432" anchor="ctr">
                    <a:solidFill>
                      <a:srgbClr val="F0EFE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Mulheres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0,778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74,3%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7,0%</a:t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73152" marT="27432" marB="27432" anchor="ctr">
                    <a:solidFill>
                      <a:srgbClr val="FCFCFB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&lt; 25 anos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03B3B"/>
                          </a:solidFill>
                          <a:latin typeface="Calibri"/>
                        </a:rPr>
                        <a:t>0,739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11,7%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fraqueza real — e o grupo de maior risco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55–65 anos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03B3B"/>
                          </a:solidFill>
                          <a:latin typeface="Calibri"/>
                        </a:rPr>
                        <a:t>0,744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fraqueza real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Thin-file (14,3% da base)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D03B3B"/>
                          </a:solidFill>
                          <a:latin typeface="Calibri"/>
                        </a:rPr>
                        <a:t>0,773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57,3%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Calibri"/>
                        </a:rPr>
                        <a:t>menos dado = score menos confiável</a:t>
                      </a:r>
                    </a:p>
                  </a:txBody>
                  <a:tcPr marL="109728" marR="73152" marT="27432" marB="27432" anchor="ctr">
                    <a:solidFill>
                      <a:srgbClr val="FAE3E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983480"/>
            <a:ext cx="11201400" cy="1051560"/>
          </a:xfrm>
          <a:prstGeom prst="roundRect">
            <a:avLst>
              <a:gd name="adj" fmla="val 8000"/>
            </a:avLst>
          </a:prstGeom>
          <a:solidFill>
            <a:srgbClr val="CD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D366B"/>
                </a:solidFill>
                <a:latin typeface="Calibri"/>
              </a:rPr>
              <a:t>Mitigação — human-in-the-loop: </a:t>
            </a:r>
            <a:r>
              <a:rPr sz="1400" b="0">
                <a:solidFill>
                  <a:srgbClr val="0B0B0B"/>
                </a:solidFill>
                <a:latin typeface="Calibri"/>
              </a:rPr>
              <a:t>nos segmentos de AUC baixo (jovens e thin-file), a decisão não é 100% automática — vai a um analista com o relatório SHAP do caso.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898781"/>
                </a:solidFill>
                <a:latin typeface="Calibri"/>
              </a:rPr>
              <a:t>Padrão para decorar: gênero OK · idade fraca · thin-file fraco · humano no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DE2FB"/>
                </a:solidFill>
                <a:latin typeface="Calibri"/>
              </a:rPr>
              <a:t>FECHAMENTO · 14:00–15:00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~70% de aprovação com o risco sob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CDE2FB"/>
                </a:solidFill>
                <a:latin typeface="Calibri"/>
              </a:rPr>
              <a:t>AUC 0,785 · KS 0,435 · régua calibrada por custo (erro de aprovação custa 10×).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CDE2FB"/>
                </a:solidFill>
                <a:latin typeface="Calibri"/>
              </a:rPr>
              <a:t>Sabemos onde o modelo é mais fraco — jovens e thin-file — e a revisão humana já está desenhada para esses casos.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10515600" cy="1691640"/>
          </a:xfrm>
          <a:prstGeom prst="roundRect">
            <a:avLst>
              <a:gd name="adj" fmla="val 8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Próximo passo — deploy como serviço de predição (etapa individual):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>
                <a:solidFill>
                  <a:srgbClr val="CDE2FB"/>
                </a:solidFill>
                <a:latin typeface="Calibri"/>
              </a:rPr>
              <a:t>API FastAPI (POST /predict) · dashboard Streamlit · orquestração Airflow · Docker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0">
                <a:solidFill>
                  <a:srgbClr val="CDE2FB"/>
                </a:solidFill>
                <a:latin typeface="Calibri"/>
              </a:rPr>
              <a:t>Monitoramento: data drift (PSI) · concept drift (AUC em janela móvel) · recalibração do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Obrigado — estamos à disposição para as perguntas.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